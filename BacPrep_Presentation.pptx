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A00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640" y="640080"/>
            <a:ext cx="1645920" cy="1645920"/>
          </a:xfrm>
          <a:prstGeom prst="ellipse">
            <a:avLst/>
          </a:prstGeom>
          <a:solidFill>
            <a:srgbClr val="FFA0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0" y="7772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🎓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BacPrep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A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Plateforme de Révision pour le Baccalauréat Mauritanien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4251960"/>
            <a:ext cx="54864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389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Développée par Alfa Conseil  •  2024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50292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1976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029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Angular 21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50292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1976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5029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3.2.5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50292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1976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5029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0" y="50292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1976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5029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Claude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Sommaire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EEF2FF"/>
          </a:solidFill>
          <a:ln w="25400">
            <a:solidFill>
              <a:srgbClr val="1A23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68680"/>
            <a:ext cx="502920" cy="594360"/>
          </a:xfrm>
          <a:prstGeom prst="roundRect">
            <a:avLst>
              <a:gd name="adj" fmla="val 14545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6868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9144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 d'ensemble &amp; Objectifs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EEF2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920240"/>
            <a:ext cx="502920" cy="594360"/>
          </a:xfrm>
          <a:prstGeom prst="roundRect">
            <a:avLst>
              <a:gd name="adj" fmla="val 1454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9202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19659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Technologique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EEF2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971800"/>
            <a:ext cx="502920" cy="594360"/>
          </a:xfrm>
          <a:prstGeom prst="roundRect">
            <a:avLst>
              <a:gd name="adj" fmla="val 1454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718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0175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Système de Rôles &amp; Sécurité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EEF2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4023360"/>
            <a:ext cx="502920" cy="59436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402336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0690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Fonctionnalités — Étudiant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73152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EEF2FF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16752" y="868680"/>
            <a:ext cx="502920" cy="594360"/>
          </a:xfrm>
          <a:prstGeom prst="roundRect">
            <a:avLst>
              <a:gd name="adj" fmla="val 14545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86868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29400" y="9144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BacIA — Assistant Intelligent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178308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EEF2FF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16752" y="1920240"/>
            <a:ext cx="502920" cy="594360"/>
          </a:xfrm>
          <a:prstGeom prst="roundRect">
            <a:avLst>
              <a:gd name="adj" fmla="val 14545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16752" y="19202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29400" y="19659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Espace Enseignant &amp; Administrateur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0" y="283464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EEF2FF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16752" y="2971800"/>
            <a:ext cx="502920" cy="594360"/>
          </a:xfrm>
          <a:prstGeom prst="roundRect">
            <a:avLst>
              <a:gd name="adj" fmla="val 14545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16752" y="29718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29400" y="30175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Modèle de Données &amp; API REST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0" y="388620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EEF2FF"/>
          </a:solidFill>
          <a:ln w="25400">
            <a:solidFill>
              <a:srgbClr val="6161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16752" y="4023360"/>
            <a:ext cx="502920" cy="594360"/>
          </a:xfrm>
          <a:prstGeom prst="roundRect">
            <a:avLst>
              <a:gd name="adj" fmla="val 14545"/>
            </a:avLst>
          </a:prstGeom>
          <a:solidFill>
            <a:srgbClr val="616161"/>
          </a:solidFill>
          <a:ln w="12700">
            <a:solidFill>
              <a:srgbClr val="6161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402336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29400" y="40690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Optimisations &amp; Performances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— Vue d'ensemble &amp; Objectifs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BacPrep est une application web complète de préparation au Baccalauréat mauritanien.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Elle offre un environnement structuré pour réviser, s'exercer et bénéficier d'un assistant IA.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Réviser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 structurés par matière et chapitre, avec suivi de progression individuel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645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✏️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297680" y="2423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S'exercer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292608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QCM, exercices traditionnels et annales du Bac avec correction automatique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645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0" y="2423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Être guidé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292608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BacIA : assistant pédagogique propulsé par Anthropic Claude 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Trois types d'utilisateurs 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38912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5C6BC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ÉTUDIANT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E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Révise, s'exerce, gère son planning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438912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EF6C00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ENSEIGNANT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4754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E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Crée et gère les cours et exercices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0" y="438912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C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0" y="4754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E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Gère les comptes utilisateurs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— Architecture Technologique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3566160" cy="4572000"/>
          </a:xfrm>
          <a:prstGeom prst="roundRect">
            <a:avLst>
              <a:gd name="adj" fmla="val 3846"/>
            </a:avLst>
          </a:prstGeom>
          <a:solidFill>
            <a:srgbClr val="EEF2FF"/>
          </a:solidFill>
          <a:ln w="381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40080"/>
            <a:ext cx="3566160" cy="822960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85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  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E5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localhost:4200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0020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Angular 21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5856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Angular Material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16936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1693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75304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7530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RxJS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33672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3367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Interceptor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640080"/>
            <a:ext cx="3566160" cy="4572000"/>
          </a:xfrm>
          <a:prstGeom prst="roundRect">
            <a:avLst>
              <a:gd name="adj" fmla="val 3846"/>
            </a:avLst>
          </a:prstGeom>
          <a:solidFill>
            <a:srgbClr val="EEF2FF"/>
          </a:solidFill>
          <a:ln w="38100">
            <a:solidFill>
              <a:srgbClr val="2E7D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640080"/>
            <a:ext cx="3566160" cy="82296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0" y="685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  BACKEND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0624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E5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localhost:8080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1600200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160020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3.2.5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2258568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225856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Security + JWT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2916936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291693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JPA / Hibernate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89120" y="3575304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357530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4233672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423367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Controllers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38160" y="640080"/>
            <a:ext cx="3566160" cy="4572000"/>
          </a:xfrm>
          <a:prstGeom prst="roundRect">
            <a:avLst>
              <a:gd name="adj" fmla="val 3846"/>
            </a:avLst>
          </a:prstGeom>
          <a:solidFill>
            <a:srgbClr val="EEF2FF"/>
          </a:solidFill>
          <a:ln w="38100">
            <a:solidFill>
              <a:srgbClr val="6A1B9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640080"/>
            <a:ext cx="3566160" cy="822960"/>
          </a:xfrm>
          <a:prstGeom prst="roundRect">
            <a:avLst>
              <a:gd name="adj" fmla="val 16667"/>
            </a:avLst>
          </a:prstGeom>
          <a:solidFill>
            <a:srgbClr val="6A1B9A"/>
          </a:solidFill>
          <a:ln/>
        </p:spPr>
      </p:sp>
      <p:sp>
        <p:nvSpPr>
          <p:cNvPr id="35" name="Text 33"/>
          <p:cNvSpPr/>
          <p:nvPr/>
        </p:nvSpPr>
        <p:spPr>
          <a:xfrm>
            <a:off x="8138160" y="685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  DONNÉES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321040" y="1600200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160020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8 (defi_4)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321040" y="2258568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225856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Claude API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21040" y="2916936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291693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claude-sonnet-4-6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321040" y="3575304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21040" y="357530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ddl-auto: update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840480" y="2880360"/>
            <a:ext cx="274320" cy="73152"/>
          </a:xfrm>
          <a:prstGeom prst="rect">
            <a:avLst/>
          </a:prstGeom>
          <a:solidFill>
            <a:srgbClr val="FFA000"/>
          </a:solidFill>
          <a:ln/>
        </p:spPr>
      </p:sp>
      <p:sp>
        <p:nvSpPr>
          <p:cNvPr id="45" name="Text 43"/>
          <p:cNvSpPr/>
          <p:nvPr/>
        </p:nvSpPr>
        <p:spPr>
          <a:xfrm>
            <a:off x="379476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A000"/>
                </a:solidFill>
              </a:rPr>
              <a:t>⟺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3566160" y="29718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/ REST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772400" y="2880360"/>
            <a:ext cx="274320" cy="73152"/>
          </a:xfrm>
          <a:prstGeom prst="rect">
            <a:avLst/>
          </a:prstGeom>
          <a:solidFill>
            <a:srgbClr val="FFA000"/>
          </a:solidFill>
          <a:ln/>
        </p:spPr>
      </p:sp>
      <p:sp>
        <p:nvSpPr>
          <p:cNvPr id="48" name="Text 46"/>
          <p:cNvSpPr/>
          <p:nvPr/>
        </p:nvSpPr>
        <p:spPr>
          <a:xfrm>
            <a:off x="772668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A000"/>
                </a:solidFill>
              </a:rPr>
              <a:t>⟺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498080" y="29718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JDBC / JPA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— Système de Rôles &amp; Sécurité JWT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 d'authentification JWT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005840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user/pwd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659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A000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640080" cy="64008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/api/auth/login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43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A00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532120" y="100584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A000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909560" y="1005840"/>
            <a:ext cx="640080" cy="6400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90956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664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Token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24h retourné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982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A000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287000" y="1005840"/>
            <a:ext cx="640080" cy="64008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3" name="Text 21"/>
          <p:cNvSpPr/>
          <p:nvPr/>
        </p:nvSpPr>
        <p:spPr>
          <a:xfrm>
            <a:off x="1028700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408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Requêtes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Bearer JWT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2468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d'accès par rôle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80360"/>
          <a:ext cx="111556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194560"/>
                <a:gridCol w="2194560"/>
                <a:gridCol w="26517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Fonctionnalité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ÉTUDIANT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ENSEIGNANT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Tableau de bord / Cours / Exercices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BacIA Chat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Planning personnel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Gestion Cours &amp; Exercices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Gestion des Utilisateurs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— Tableau de Bord Étudiant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"Bonjour Ahmed ! 👋 — Prêt à réviser ? Continuez sur votre lancée !"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EF2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6276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8/12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2057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 Complétés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331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EF2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16276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0" y="2057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Exercices Faits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2331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 45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EF2FF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16276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75.3%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26480" y="2057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Moyen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0" y="2331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Moyenne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52560" y="10515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EF2FF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✔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52560" y="16276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1B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5/8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52560" y="2057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Tâches Planning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52560" y="2331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1B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2788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Contenu du tableau de bord :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" y="32461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4 cartes statistiques dynamiques (cours, exercices, score, planning)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7947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Barre de progression globale calculée en temps réel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3434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 Tableau des 5 derniers scores avec exercice, note et date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2461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 Liste des prochaines tâches de planning à venir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37947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Boutons d'actions rapides : Cours, Exercices, BacIA, Planning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43434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 Cache côté frontend (30 secondes) pour éviter les requêtes répétées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— Bibliothèque de Cours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5029200" cy="4480560"/>
          </a:xfrm>
          <a:prstGeom prst="roundRect">
            <a:avLst>
              <a:gd name="adj" fmla="val 3061"/>
            </a:avLst>
          </a:prstGeom>
          <a:solidFill>
            <a:srgbClr val="EEF2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0080"/>
            <a:ext cx="5029200" cy="1005840"/>
          </a:xfrm>
          <a:prstGeom prst="roundRect">
            <a:avLst>
              <a:gd name="adj" fmla="val 13636"/>
            </a:avLst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132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MATHÉMATIQUES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Chapitre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Fonctions Dérivées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différentielle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976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45 min    📊 TERMINALE    📄 COURS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4663440" cy="201168"/>
          </a:xfrm>
          <a:prstGeom prst="roundRect">
            <a:avLst>
              <a:gd name="adj" fmla="val 45455"/>
            </a:avLst>
          </a:prstGeom>
          <a:solidFill>
            <a:srgbClr val="E0E0E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154680"/>
            <a:ext cx="3108960" cy="201168"/>
          </a:xfrm>
          <a:prstGeom prst="roundRect">
            <a:avLst>
              <a:gd name="adj" fmla="val 45455"/>
            </a:avLst>
          </a:prstGeom>
          <a:solidFill>
            <a:srgbClr val="1976D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107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976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Progression : 66%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5943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Fonctionnalités — Cours 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60720" y="10972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Barre de recherche en temps réel (titre, chapitre, matière)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166420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 Chips de filtrage par matière (couleur distincte par discipline)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223113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 Carte par cours : en-tête coloré, numéro de chapitre, durée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279806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Barre de progression individuelle par cours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3364992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Icône de validation pour les cours complétés à 100%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39319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 Contenu complet en Markdown avec mise en forme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449884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Marquage de progression : 0%, 25%, 50%, 75%, 100%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— Exercices &amp; Annales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types d'exercices 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566160" cy="2011680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381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67335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à choix unique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Correction automatique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+ mention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005840"/>
            <a:ext cx="3566160" cy="2011680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381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051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206240" y="167335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EXERCICE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3400" y="2103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Énoncé + correction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Affiché à la demande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005840"/>
            <a:ext cx="3566160" cy="2011680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381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051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138160" y="167335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ANNALE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2103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Sujets officiels du Bac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Avec année et correction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154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 QCM — Après soumission 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611880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Score affiché : 8/10 — 80.0%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114800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🎖 Mention : Excellent / Bien / Assez Bien / Insuffisant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617720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Correction Q/R : Bonne réponse en vert, erreur en rouge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611880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Explication : Explication pédagogique par question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4114800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Chronomètre : Suivi du temps avec alerte si dépassement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05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— BacIA : Assistant Pédagogique Intelligent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2D1B4E"/>
          </a:solidFill>
          <a:ln w="25400">
            <a:solidFill>
              <a:srgbClr val="7B1F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40080"/>
            <a:ext cx="5303520" cy="64008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9494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BacIA — Assistant Pédagogique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1417320"/>
            <a:ext cx="3017520" cy="594360"/>
          </a:xfrm>
          <a:prstGeom prst="roundRect">
            <a:avLst>
              <a:gd name="adj" fmla="val 23077"/>
            </a:avLst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4173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Explique les dérivées svp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148840"/>
            <a:ext cx="4937760" cy="1645920"/>
          </a:xfrm>
          <a:prstGeom prst="roundRect">
            <a:avLst>
              <a:gd name="adj" fmla="val 8333"/>
            </a:avLst>
          </a:prstGeom>
          <a:solidFill>
            <a:srgbClr val="3E1F6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12848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Bien sûr ! La dérivée mesure le taux de variation instantané...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f'(x) = lim[h→0] (f(x+h) - f(x)) / 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Exemple : si f(x) = x², alors f'(x) = 2x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931920"/>
            <a:ext cx="822960" cy="320040"/>
          </a:xfrm>
          <a:prstGeom prst="roundRect">
            <a:avLst>
              <a:gd name="adj" fmla="val 42857"/>
            </a:avLst>
          </a:prstGeom>
          <a:solidFill>
            <a:srgbClr val="3E1F6E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9319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434840"/>
            <a:ext cx="4389120" cy="548640"/>
          </a:xfrm>
          <a:prstGeom prst="roundRect">
            <a:avLst>
              <a:gd name="adj" fmla="val 16667"/>
            </a:avLst>
          </a:prstGeom>
          <a:solidFill>
            <a:srgbClr val="3E1F6E"/>
          </a:solidFill>
          <a:ln w="25400">
            <a:solidFill>
              <a:srgbClr val="7B1F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4622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75C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Posez votre question...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44348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A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0" y="5943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Caractéristiques de BacIA 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1097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 Modèle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78040" y="1097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BE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Claude Sonnet (claude-sonnet-4-6)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18105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 Contexte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78040" y="18105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BE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Sélecteur de matière pour contextualiser les réponses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252374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Historique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252374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BE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Conversations sauvegardées en base de données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323697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 Formatage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323697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BE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Réponses en Markdown (gras, listes, formules)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39502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Suggestions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78040" y="395020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BE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rapides pré-définies pour démarrer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4663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🗑  Effacer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78040" y="46634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BE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Réinitialisation de la conversation en un clic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— Planning de Révision Personnel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486400" cy="1280160"/>
          </a:xfrm>
          <a:prstGeom prst="roundRect">
            <a:avLst>
              <a:gd name="adj" fmla="val 8571"/>
            </a:avLst>
          </a:prstGeom>
          <a:solidFill>
            <a:srgbClr val="EEF2FF"/>
          </a:solidFill>
          <a:ln w="381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40080"/>
            <a:ext cx="182880" cy="12801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758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Révision Maths — Chapitres 3-4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Mathématiques  •  📅 23 mars  •  ⏰ 14:00-16:00  •  🔔 Rappel  •  [En cours]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F1F8E9"/>
          </a:solidFill>
          <a:ln w="381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57400"/>
            <a:ext cx="182880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762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☑  Exercices Physique — Lois de Newton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5420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Physique  •  📅 20 mars  •  ⏰ 10:00-11:30  •  [Terminé]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26480" y="594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Fonctionnalités du Planning 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051560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✏️  Création de tâches : titre, description, matière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600200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 Plage date + heure (début et fin)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148840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 6 couleurs personnalisables par tâche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697480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Option de rappel activable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246120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☑  Checkbox pour marquer une tâche terminée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3794760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Filtres : Toutes / À faire / Terminées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4343400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🗑  Suppression individuelle par tâche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— Espace Enseignant &amp; Administrateur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5669280" cy="4663440"/>
          </a:xfrm>
          <a:prstGeom prst="roundRect">
            <a:avLst>
              <a:gd name="adj" fmla="val 2941"/>
            </a:avLst>
          </a:prstGeom>
          <a:solidFill>
            <a:srgbClr val="EEF2FF"/>
          </a:solidFill>
          <a:ln w="381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594360"/>
            <a:ext cx="5669280" cy="594360"/>
          </a:xfrm>
          <a:prstGeom prst="roundRect">
            <a:avLst>
              <a:gd name="adj" fmla="val 23077"/>
            </a:avLst>
          </a:prstGeom>
          <a:solidFill>
            <a:srgbClr val="EF6C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400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🏫  Espace Enseignant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6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Gestion des Cours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Créer / Modifier / Supprimer des cours.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Matière, chapitre, contenu Markdown.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6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✏️ Gestion des Exercices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8775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Créer QCM, exercices et annales.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Difficulté, durée, points, correction.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6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Ajout de Questions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0215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avec options de réponse.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Désigner la bonne réponse.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6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Accès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1655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@PreAuthorize("ENSEIGNANT or ADMIN")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594360"/>
            <a:ext cx="5669280" cy="4663440"/>
          </a:xfrm>
          <a:prstGeom prst="roundRect">
            <a:avLst>
              <a:gd name="adj" fmla="val 2941"/>
            </a:avLst>
          </a:prstGeom>
          <a:solidFill>
            <a:srgbClr val="FFF8F8"/>
          </a:solidFill>
          <a:ln w="38100">
            <a:solidFill>
              <a:srgbClr val="C628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594360"/>
            <a:ext cx="5669280" cy="594360"/>
          </a:xfrm>
          <a:prstGeom prst="roundRect">
            <a:avLst>
              <a:gd name="adj" fmla="val 23077"/>
            </a:avLst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6400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👑  Espace Administrateur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13258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Liste des utilisateurs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67335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complet : nom, identifiant, email, rôle.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0756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➕ Créer un utilisateur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4231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Tous les champs + rôle (ETUDIANT / ENSEIGNANT / ADMIN).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282549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✏️ Modifier un utilisateur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1729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Modification sans toucher au mot de passe.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357530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Activer / Désactiver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92277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Toggle slide pour bloquer l'accès sans supprimer.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432511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🗑 Supprimer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467258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Suppression définitive d'un compte.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— Modèle de Données (Entités JPA)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EEF2FF"/>
          </a:solidFill>
          <a:ln w="25400">
            <a:solidFill>
              <a:srgbClr val="1A23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40080"/>
            <a:ext cx="3657600" cy="411480"/>
          </a:xfrm>
          <a:prstGeom prst="roundRect">
            <a:avLst>
              <a:gd name="adj" fmla="val 26667"/>
            </a:avLst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097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id, username, email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33502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password (BCrypt)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5727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nom, prenom, serie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181051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role (ENUM)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204825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actif, date_inscription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06240" y="640080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EEF2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640080"/>
            <a:ext cx="3657600" cy="411480"/>
          </a:xfrm>
          <a:prstGeom prst="roundRect">
            <a:avLst>
              <a:gd name="adj" fmla="val 26667"/>
            </a:avLst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6583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15968" y="1097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id, titre, chapitre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15968" y="133502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matiere_id (FK)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15968" y="15727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contenu (Markdown)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15968" y="181051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type, niveau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15968" y="204825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duree_lecture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138160" y="640080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EEF2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640080"/>
            <a:ext cx="3657600" cy="411480"/>
          </a:xfrm>
          <a:prstGeom prst="roundRect">
            <a:avLst>
              <a:gd name="adj" fmla="val 26667"/>
            </a:avLst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6583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47888" y="1097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id, titre, enonce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47888" y="133502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matiere_id (FK)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47888" y="15727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type (QCM/EX/ANN)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47888" y="181051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difficulte, annee_bac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47888" y="204825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points_total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423160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EEF2FF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423160"/>
            <a:ext cx="3657600" cy="411480"/>
          </a:xfrm>
          <a:prstGeom prst="roundRect">
            <a:avLst>
              <a:gd name="adj" fmla="val 26667"/>
            </a:avLst>
          </a:prstGeom>
          <a:solidFill>
            <a:srgbClr val="00695C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24414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4048" y="2880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id, exercice_id (FK)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4048" y="311810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enonce, explication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84048" y="33558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ordre, points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4048" y="359359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→ options_reponse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206240" y="2423160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EEF2FF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06240" y="2423160"/>
            <a:ext cx="3657600" cy="411480"/>
          </a:xfrm>
          <a:prstGeom prst="roundRect">
            <a:avLst>
              <a:gd name="adj" fmla="val 26667"/>
            </a:avLst>
          </a:prstGeom>
          <a:solidFill>
            <a:srgbClr val="E65100"/>
          </a:solidFill>
          <a:ln/>
        </p:spPr>
      </p:sp>
      <p:sp>
        <p:nvSpPr>
          <p:cNvPr id="38" name="Text 36"/>
          <p:cNvSpPr/>
          <p:nvPr/>
        </p:nvSpPr>
        <p:spPr>
          <a:xfrm>
            <a:off x="4206240" y="24414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315968" y="2880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id, user_id (FK)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315968" y="311810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titre, description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15968" y="33558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matiere_id, couleur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315968" y="359359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date/heure début-fin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315968" y="383133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complete, rappel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138160" y="2423160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EEF2FF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2423160"/>
            <a:ext cx="3657600" cy="411480"/>
          </a:xfrm>
          <a:prstGeom prst="roundRect">
            <a:avLst>
              <a:gd name="adj" fmla="val 26667"/>
            </a:avLst>
          </a:prstGeom>
          <a:solidFill>
            <a:srgbClr val="6A1B9A"/>
          </a:solidFill>
          <a:ln/>
        </p:spPr>
      </p:sp>
      <p:sp>
        <p:nvSpPr>
          <p:cNvPr id="46" name="Text 44"/>
          <p:cNvSpPr/>
          <p:nvPr/>
        </p:nvSpPr>
        <p:spPr>
          <a:xfrm>
            <a:off x="8138160" y="24414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user_scores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47888" y="2880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id, user_id (FK)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47888" y="311810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exercice_id (FK)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247888" y="33558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score, score_max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247888" y="359359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pourcentage, mention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247888" y="383133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date_passage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4206240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EEF2FF"/>
          </a:solidFill>
          <a:ln w="25400">
            <a:solidFill>
              <a:srgbClr val="0079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4206240"/>
            <a:ext cx="3657600" cy="411480"/>
          </a:xfrm>
          <a:prstGeom prst="roundRect">
            <a:avLst>
              <a:gd name="adj" fmla="val 26667"/>
            </a:avLst>
          </a:prstGeom>
          <a:solidFill>
            <a:srgbClr val="00796B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42245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user_progress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84048" y="4663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id, user_id (FK)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84048" y="490118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cours_id (FK)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84048" y="51389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progression (0-100%)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84048" y="53766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 (bool)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206240" y="4206240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EEF2FF"/>
          </a:solidFill>
          <a:ln w="25400">
            <a:solidFill>
              <a:srgbClr val="4527A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06240" y="4206240"/>
            <a:ext cx="3657600" cy="411480"/>
          </a:xfrm>
          <a:prstGeom prst="roundRect">
            <a:avLst>
              <a:gd name="adj" fmla="val 26667"/>
            </a:avLst>
          </a:prstGeom>
          <a:solidFill>
            <a:srgbClr val="4527A0"/>
          </a:solidFill>
          <a:ln/>
        </p:spPr>
      </p:sp>
      <p:sp>
        <p:nvSpPr>
          <p:cNvPr id="61" name="Text 59"/>
          <p:cNvSpPr/>
          <p:nvPr/>
        </p:nvSpPr>
        <p:spPr>
          <a:xfrm>
            <a:off x="4206240" y="42245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chat_messages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315968" y="4663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id, user_id (FK)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315968" y="490118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role (user/assistant)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315968" y="51389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content (text)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315968" y="53766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timestamp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138160" y="4206240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EEF2FF"/>
          </a:solidFill>
          <a:ln w="25400">
            <a:solidFill>
              <a:srgbClr val="61616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138160" y="4206240"/>
            <a:ext cx="3657600" cy="411480"/>
          </a:xfrm>
          <a:prstGeom prst="roundRect">
            <a:avLst>
              <a:gd name="adj" fmla="val 26667"/>
            </a:avLst>
          </a:prstGeom>
          <a:solidFill>
            <a:srgbClr val="616161"/>
          </a:solidFill>
          <a:ln/>
        </p:spPr>
      </p:sp>
      <p:sp>
        <p:nvSpPr>
          <p:cNvPr id="68" name="Text 66"/>
          <p:cNvSpPr/>
          <p:nvPr/>
        </p:nvSpPr>
        <p:spPr>
          <a:xfrm>
            <a:off x="8138160" y="42245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matieres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247888" y="4663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id, nom, code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247888" y="490118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couleur (hex)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247888" y="51389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icone (Material)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— API REST Backend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94360"/>
          <a:ext cx="113385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4754880"/>
                <a:gridCol w="27432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Méthode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Endpoint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Rôle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/api/auth/login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Connexion — retourne JWT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/api/auth/register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Inscription étudiant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/api/dashboard/stats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Statistiques tableau de bord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GET/POST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/api/cours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Liste / Créer cours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 / Enseignant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/api/exercices/{id}/submit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Soumettre réponses QCM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/api/exercices/my-scores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Historique scores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GET/POST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/api/planning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Planning utilisateur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/api/ai/chat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Chat BacIA (Anthropic API)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GET/POST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/api/admin/users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Gestion utilisateurs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GET/POST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/api/enseignant/cours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Gestion cours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ENSEIGNANT+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GET/POST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/api/enseignant/exercices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Gestion exercices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ENSEIGNANT+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48056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Sécurité des endpoints 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48920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892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" y="5120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 token requis (login, register)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00400" y="48920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4892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00400" y="5120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valide requis dans l'en-tête Authorization: Bearer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48920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 w="19050">
            <a:solidFill>
              <a:srgbClr val="EF6C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4892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6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ENSEIGNANT+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26480" y="5120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@PreAuthorize("ENSEIGNANT or ADMIN")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9052560" y="48920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52560" y="4892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052560" y="5120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@PreAuthorize("ADMIN") uniquement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— Optimisations &amp; Problèmes Résolus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3175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3152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31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7498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Chargement lent du dashboard (N+1)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Problème 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26187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findByUserId().size() chargeait toutes les tâches en mémoire pour compter.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9019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Solution 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1901952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Ajout de countByUserId(Long id) dans PlanningRepository → requête COUNT directe.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31750">
            <a:solidFill>
              <a:srgbClr val="2E7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5468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729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LazyInitializationException — Exercices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6850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Problème 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36850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Exercice.questions en FetchType.LAZY sérialisé hors de la session Hibernate.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3251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Solution 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4325112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@Transactional(readOnly=true) + exercices.forEach(e -&gt; e.setQuestions(null)) sur les listes.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64008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31750">
            <a:solidFill>
              <a:srgbClr val="6A1B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731520"/>
            <a:ext cx="502920" cy="50292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731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7498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 Frontend — Dashboard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12618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Problème 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126187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Rechargement des stats à chaque visite du tableau de bord.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19019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Solution 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1901952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 30 secondes côté Angular service. Données servies instantanément si récentes.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06324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31750">
            <a:solidFill>
              <a:srgbClr val="FFA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154680"/>
            <a:ext cx="502920" cy="50292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31729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2 clics — Sidebar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36850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Problème 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36850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&lt;mat-list-item (click)&gt; nécessitait focus puis clic (2 interactions).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43251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Solution 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325112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&lt;a mat-list-item [routerLink]&gt; → navigation native en 1 seul clic.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A000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0" y="3657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🎓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BacPrep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A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plateforme complète, moderne et intelligente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A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réussir le Baccalauréat mauritanien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54864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32461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Architecture moderne : Angular 21 + Spring Boot 3.2.5 + MySQL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372160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Intelligence Artificielle intégrée : Anthropic Claude Sonnet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419709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Système de rôles complet : Étudiant / Enseignant / Admin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46725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Interface responsive avec Angular Material 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Alfa Conseil  •  2024  •  Tous droits réservés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Alfa Conseil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BacPrep — Plateforme de Révision Baccalauréat</dc:title>
  <dc:subject>Présentation BacPrep</dc:subject>
  <dc:creator>Alfa Conseil</dc:creator>
  <cp:lastModifiedBy>Alfa Conseil</cp:lastModifiedBy>
  <cp:revision>1</cp:revision>
  <dcterms:created xsi:type="dcterms:W3CDTF">2026-03-22T19:30:20Z</dcterms:created>
  <dcterms:modified xsi:type="dcterms:W3CDTF">2026-03-22T19:30:20Z</dcterms:modified>
</cp:coreProperties>
</file>