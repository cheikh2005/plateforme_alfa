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1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4066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" y="8092"/>
            <a:ext cx="12192000" cy="685800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A000"/>
          </a:solidFill>
          <a:ln/>
        </p:spPr>
      </p:sp>
      <p:sp>
        <p:nvSpPr>
          <p:cNvPr id="4" name="Shape 2"/>
          <p:cNvSpPr/>
          <p:nvPr/>
        </p:nvSpPr>
        <p:spPr>
          <a:xfrm>
            <a:off x="5120640" y="640080"/>
            <a:ext cx="1645920" cy="1645920"/>
          </a:xfrm>
          <a:prstGeom prst="ellipse">
            <a:avLst/>
          </a:prstGeom>
          <a:solidFill>
            <a:srgbClr val="FFA00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0" y="777240"/>
            <a:ext cx="1645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</a:rPr>
              <a:t>🎓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246888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105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ctr"/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Lien du video : </a:t>
            </a:r>
            <a:r>
              <a:rPr lang="en-US" sz="1050" b="1" dirty="0">
                <a:solidFill>
                  <a:schemeClr val="tx2">
                    <a:lumMod val="20000"/>
                    <a:lumOff val="80000"/>
                  </a:scheme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https://drive.google.com/file/d/1nFutqq24J-P5x4GNtqdhcntzP1Vs7NZt/view?usp=sharing</a:t>
            </a:r>
            <a:b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b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endParaRPr lang="en-US" sz="10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ctr"/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Lien GitHub : https://github.com/Cheikh2005/plateforme_alfa.git </a:t>
            </a:r>
          </a:p>
          <a:p>
            <a:pPr marL="0" indent="0" algn="ctr">
              <a:buNone/>
            </a:pPr>
            <a:r>
              <a:rPr lang="en-US" sz="5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BacPrep</a:t>
            </a: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</a:t>
            </a:r>
          </a:p>
        </p:txBody>
      </p:sp>
      <p:sp>
        <p:nvSpPr>
          <p:cNvPr id="7" name="Text 5"/>
          <p:cNvSpPr/>
          <p:nvPr/>
        </p:nvSpPr>
        <p:spPr>
          <a:xfrm>
            <a:off x="548640" y="347472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>
              <a:solidFill>
                <a:srgbClr val="FFA000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 algn="ctr">
              <a:buNone/>
            </a:pPr>
            <a:endParaRPr lang="en-US" sz="2000" dirty="0">
              <a:solidFill>
                <a:srgbClr val="FFA000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 algn="ctr">
              <a:buNone/>
            </a:pPr>
            <a:r>
              <a:rPr lang="en-US" sz="2000" dirty="0" err="1">
                <a:solidFill>
                  <a:srgbClr val="FFA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Plateforme</a:t>
            </a:r>
            <a:r>
              <a:rPr lang="en-US" sz="2000" dirty="0">
                <a:solidFill>
                  <a:srgbClr val="FFA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Révision pour le </a:t>
            </a:r>
            <a:r>
              <a:rPr lang="en-US" sz="2000" dirty="0" err="1">
                <a:solidFill>
                  <a:srgbClr val="FFA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Baccalauréat</a:t>
            </a:r>
            <a:r>
              <a:rPr lang="en-US" sz="2000" dirty="0">
                <a:solidFill>
                  <a:srgbClr val="FFA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000" dirty="0" err="1">
                <a:solidFill>
                  <a:srgbClr val="FFA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Mauritanien</a:t>
            </a:r>
            <a:endParaRPr lang="en-US" sz="2000" dirty="0">
              <a:solidFill>
                <a:srgbClr val="FFA000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 algn="ctr">
              <a:buNone/>
            </a:pPr>
            <a:r>
              <a:rPr lang="en-US" sz="2000" dirty="0"/>
              <a:t> </a:t>
            </a:r>
          </a:p>
        </p:txBody>
      </p:sp>
      <p:sp>
        <p:nvSpPr>
          <p:cNvPr id="8" name="Shape 6"/>
          <p:cNvSpPr/>
          <p:nvPr/>
        </p:nvSpPr>
        <p:spPr>
          <a:xfrm>
            <a:off x="3200400" y="4251960"/>
            <a:ext cx="54864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3891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0BEC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Développée par Alfa Conseil  •  2024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5029200"/>
            <a:ext cx="2286000" cy="411480"/>
          </a:xfrm>
          <a:prstGeom prst="roundRect">
            <a:avLst>
              <a:gd name="adj" fmla="val 22222"/>
            </a:avLst>
          </a:prstGeom>
          <a:solidFill>
            <a:srgbClr val="1976D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50292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Angular 21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0" y="5029200"/>
            <a:ext cx="2286000" cy="411480"/>
          </a:xfrm>
          <a:prstGeom prst="roundRect">
            <a:avLst>
              <a:gd name="adj" fmla="val 22222"/>
            </a:avLst>
          </a:prstGeom>
          <a:solidFill>
            <a:srgbClr val="1976D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50292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Spring Boot 3.2.5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5029200"/>
            <a:ext cx="2286000" cy="411480"/>
          </a:xfrm>
          <a:prstGeom prst="roundRect">
            <a:avLst>
              <a:gd name="adj" fmla="val 22222"/>
            </a:avLst>
          </a:prstGeom>
          <a:solidFill>
            <a:srgbClr val="1976D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50292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MySQL 8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44000" y="5029200"/>
            <a:ext cx="2286000" cy="411480"/>
          </a:xfrm>
          <a:prstGeom prst="roundRect">
            <a:avLst>
              <a:gd name="adj" fmla="val 22222"/>
            </a:avLst>
          </a:prstGeom>
          <a:solidFill>
            <a:srgbClr val="1976D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0" y="50292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Anthropic Claude AI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Sommaire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731520"/>
            <a:ext cx="5120640" cy="868680"/>
          </a:xfrm>
          <a:prstGeom prst="roundRect">
            <a:avLst>
              <a:gd name="adj" fmla="val 10526"/>
            </a:avLst>
          </a:prstGeom>
          <a:solidFill>
            <a:srgbClr val="EEF2FF"/>
          </a:solidFill>
          <a:ln w="25400">
            <a:solidFill>
              <a:srgbClr val="1A237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30352" y="868680"/>
            <a:ext cx="502920" cy="594360"/>
          </a:xfrm>
          <a:prstGeom prst="roundRect">
            <a:avLst>
              <a:gd name="adj" fmla="val 14545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868680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3000" y="914400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Vue d'ensemble &amp; Objectifs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5120640" cy="868680"/>
          </a:xfrm>
          <a:prstGeom prst="roundRect">
            <a:avLst>
              <a:gd name="adj" fmla="val 10526"/>
            </a:avLst>
          </a:prstGeom>
          <a:solidFill>
            <a:srgbClr val="EEF2FF"/>
          </a:solidFill>
          <a:ln w="25400">
            <a:solidFill>
              <a:srgbClr val="1565C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0352" y="1920240"/>
            <a:ext cx="502920" cy="594360"/>
          </a:xfrm>
          <a:prstGeom prst="roundRect">
            <a:avLst>
              <a:gd name="adj" fmla="val 14545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1920240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43000" y="1965960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Technologique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834640"/>
            <a:ext cx="5120640" cy="868680"/>
          </a:xfrm>
          <a:prstGeom prst="roundRect">
            <a:avLst>
              <a:gd name="adj" fmla="val 10526"/>
            </a:avLst>
          </a:prstGeom>
          <a:solidFill>
            <a:srgbClr val="EEF2FF"/>
          </a:solidFill>
          <a:ln w="25400">
            <a:solidFill>
              <a:srgbClr val="1976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2971800"/>
            <a:ext cx="502920" cy="594360"/>
          </a:xfrm>
          <a:prstGeom prst="roundRect">
            <a:avLst>
              <a:gd name="adj" fmla="val 14545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2971800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43000" y="3017520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Système de Rôles &amp; Sécurité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5120640" cy="868680"/>
          </a:xfrm>
          <a:prstGeom prst="roundRect">
            <a:avLst>
              <a:gd name="adj" fmla="val 10526"/>
            </a:avLst>
          </a:prstGeom>
          <a:solidFill>
            <a:srgbClr val="EEF2FF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" y="4023360"/>
            <a:ext cx="502920" cy="594360"/>
          </a:xfrm>
          <a:prstGeom prst="roundRect">
            <a:avLst>
              <a:gd name="adj" fmla="val 1454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" y="4023360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43000" y="4069080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Fonctionnalités — Étudiant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731520"/>
            <a:ext cx="5120640" cy="868680"/>
          </a:xfrm>
          <a:prstGeom prst="roundRect">
            <a:avLst>
              <a:gd name="adj" fmla="val 10526"/>
            </a:avLst>
          </a:prstGeom>
          <a:solidFill>
            <a:srgbClr val="EEF2FF"/>
          </a:solidFill>
          <a:ln w="25400">
            <a:solidFill>
              <a:srgbClr val="6A1B9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16752" y="868680"/>
            <a:ext cx="502920" cy="594360"/>
          </a:xfrm>
          <a:prstGeom prst="roundRect">
            <a:avLst>
              <a:gd name="adj" fmla="val 14545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16752" y="868680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629400" y="914400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BacIA — Assistant Intelligent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1783080"/>
            <a:ext cx="5120640" cy="868680"/>
          </a:xfrm>
          <a:prstGeom prst="roundRect">
            <a:avLst>
              <a:gd name="adj" fmla="val 10526"/>
            </a:avLst>
          </a:prstGeom>
          <a:solidFill>
            <a:srgbClr val="EEF2FF"/>
          </a:solidFill>
          <a:ln w="25400">
            <a:solidFill>
              <a:srgbClr val="E651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16752" y="1920240"/>
            <a:ext cx="502920" cy="594360"/>
          </a:xfrm>
          <a:prstGeom prst="roundRect">
            <a:avLst>
              <a:gd name="adj" fmla="val 14545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16752" y="1920240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629400" y="1965960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Espace Enseignant &amp; Administrateur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943600" y="2834640"/>
            <a:ext cx="5120640" cy="868680"/>
          </a:xfrm>
          <a:prstGeom prst="roundRect">
            <a:avLst>
              <a:gd name="adj" fmla="val 10526"/>
            </a:avLst>
          </a:prstGeom>
          <a:solidFill>
            <a:srgbClr val="EEF2FF"/>
          </a:solidFill>
          <a:ln w="25400">
            <a:solidFill>
              <a:srgbClr val="00695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16752" y="2971800"/>
            <a:ext cx="502920" cy="594360"/>
          </a:xfrm>
          <a:prstGeom prst="roundRect">
            <a:avLst>
              <a:gd name="adj" fmla="val 14545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6752" y="2971800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629400" y="3017520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Modèle de Données &amp; API REST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3600" y="3886200"/>
            <a:ext cx="5120640" cy="868680"/>
          </a:xfrm>
          <a:prstGeom prst="roundRect">
            <a:avLst>
              <a:gd name="adj" fmla="val 10526"/>
            </a:avLst>
          </a:prstGeom>
          <a:solidFill>
            <a:srgbClr val="EEF2FF"/>
          </a:solidFill>
          <a:ln w="25400">
            <a:solidFill>
              <a:srgbClr val="61616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16752" y="4023360"/>
            <a:ext cx="502920" cy="594360"/>
          </a:xfrm>
          <a:prstGeom prst="roundRect">
            <a:avLst>
              <a:gd name="adj" fmla="val 14545"/>
            </a:avLst>
          </a:prstGeom>
          <a:solidFill>
            <a:srgbClr val="616161"/>
          </a:solidFill>
          <a:ln w="12700">
            <a:solidFill>
              <a:srgbClr val="6161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16752" y="4023360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629400" y="4069080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Optimisations &amp; Performances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— Vue d'ensemble &amp; Objectifs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BacPrep est une application web complète de préparation au Baccalauréat mauritanien.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Elle offre un environnement structuré pour réviser, s'exercer et bénéficier d'un assistant IA.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55448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 w="25400">
            <a:solidFill>
              <a:srgbClr val="1976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4592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📚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" y="24231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23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Réviser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 structurés par matière et chapitre, avec suivi de progression individuel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55448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 w="25400">
            <a:solidFill>
              <a:srgbClr val="1976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0" y="164592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✏️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297680" y="24231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23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S'exercer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389120" y="292608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QCM, exercices traditionnels et annales du Bac avec correction automatique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0" y="155448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 w="25400">
            <a:solidFill>
              <a:srgbClr val="1976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64592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🤖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229600" y="24231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23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Être guidé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21040" y="292608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BacIA : assistant pédagogique propulsé par Anthropic Claude AI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3977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3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Trois types d'utilisateurs :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4389120"/>
            <a:ext cx="3566160" cy="777240"/>
          </a:xfrm>
          <a:prstGeom prst="roundRect">
            <a:avLst>
              <a:gd name="adj" fmla="val 11765"/>
            </a:avLst>
          </a:prstGeom>
          <a:solidFill>
            <a:srgbClr val="5C6BC0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4434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ÉTUDIANT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E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Révise, s'exerce, gère son planning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97680" y="4389120"/>
            <a:ext cx="3566160" cy="777240"/>
          </a:xfrm>
          <a:prstGeom prst="roundRect">
            <a:avLst>
              <a:gd name="adj" fmla="val 11765"/>
            </a:avLst>
          </a:prstGeom>
          <a:solidFill>
            <a:srgbClr val="EF6C00"/>
          </a:solidFill>
          <a:ln/>
        </p:spPr>
      </p:sp>
      <p:sp>
        <p:nvSpPr>
          <p:cNvPr id="23" name="Text 21"/>
          <p:cNvSpPr/>
          <p:nvPr/>
        </p:nvSpPr>
        <p:spPr>
          <a:xfrm>
            <a:off x="4297680" y="4434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ENSEIGNANT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297680" y="47548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E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Crée et gère les cours et exercices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0" y="4389120"/>
            <a:ext cx="3566160" cy="777240"/>
          </a:xfrm>
          <a:prstGeom prst="roundRect">
            <a:avLst>
              <a:gd name="adj" fmla="val 11765"/>
            </a:avLst>
          </a:prstGeom>
          <a:solidFill>
            <a:srgbClr val="C62828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4434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29600" y="47548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E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Gère les comptes utilisateurs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— Architecture Technologique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3566160" cy="4572000"/>
          </a:xfrm>
          <a:prstGeom prst="roundRect">
            <a:avLst>
              <a:gd name="adj" fmla="val 3846"/>
            </a:avLst>
          </a:prstGeom>
          <a:solidFill>
            <a:srgbClr val="EEF2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640080"/>
            <a:ext cx="3566160" cy="822960"/>
          </a:xfrm>
          <a:prstGeom prst="roundRect">
            <a:avLst>
              <a:gd name="adj" fmla="val 16667"/>
            </a:avLst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858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🖥  FRONTEND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" y="10972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3E5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localhost:4200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32004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00200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Angular 21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258568"/>
            <a:ext cx="32004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258568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Angular Material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16936"/>
            <a:ext cx="32004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916936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TypeScript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575304"/>
            <a:ext cx="32004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575304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RxJS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233672"/>
            <a:ext cx="32004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233672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Interceptor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06240" y="640080"/>
            <a:ext cx="3566160" cy="4572000"/>
          </a:xfrm>
          <a:prstGeom prst="roundRect">
            <a:avLst>
              <a:gd name="adj" fmla="val 3846"/>
            </a:avLst>
          </a:prstGeom>
          <a:solidFill>
            <a:srgbClr val="EEF2FF"/>
          </a:solidFill>
          <a:ln w="381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06240" y="640080"/>
            <a:ext cx="3566160" cy="82296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206240" y="6858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⚙  BACKEND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206240" y="10972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3E5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localhost:8080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89120" y="1600200"/>
            <a:ext cx="32004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89120" y="1600200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Spring Boot 3.2.5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0" y="2258568"/>
            <a:ext cx="32004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89120" y="2258568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Spring Security + JWT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89120" y="2916936"/>
            <a:ext cx="32004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89120" y="2916936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JPA / Hibernate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389120" y="3575304"/>
            <a:ext cx="32004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89120" y="3575304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BCrypt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389120" y="4233672"/>
            <a:ext cx="32004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0" y="4233672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Controllers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138160" y="640080"/>
            <a:ext cx="3566160" cy="4572000"/>
          </a:xfrm>
          <a:prstGeom prst="roundRect">
            <a:avLst>
              <a:gd name="adj" fmla="val 3846"/>
            </a:avLst>
          </a:prstGeom>
          <a:solidFill>
            <a:srgbClr val="EEF2FF"/>
          </a:solidFill>
          <a:ln w="38100">
            <a:solidFill>
              <a:srgbClr val="6A1B9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38160" y="640080"/>
            <a:ext cx="3566160" cy="822960"/>
          </a:xfrm>
          <a:prstGeom prst="roundRect">
            <a:avLst>
              <a:gd name="adj" fmla="val 16667"/>
            </a:avLst>
          </a:prstGeom>
          <a:solidFill>
            <a:srgbClr val="6A1B9A"/>
          </a:solidFill>
          <a:ln/>
        </p:spPr>
      </p:sp>
      <p:sp>
        <p:nvSpPr>
          <p:cNvPr id="35" name="Text 33"/>
          <p:cNvSpPr/>
          <p:nvPr/>
        </p:nvSpPr>
        <p:spPr>
          <a:xfrm>
            <a:off x="8138160" y="6858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🗄  DONNÉES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8321040" y="1600200"/>
            <a:ext cx="32004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321040" y="1600200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MySQL 8 (defi_4)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321040" y="2258568"/>
            <a:ext cx="32004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21040" y="2258568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Anthropic Claude API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321040" y="2916936"/>
            <a:ext cx="32004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21040" y="2916936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claude-sonnet-4-6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321040" y="3575304"/>
            <a:ext cx="32004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21040" y="3575304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ddl-auto: update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840480" y="2880360"/>
            <a:ext cx="274320" cy="73152"/>
          </a:xfrm>
          <a:prstGeom prst="rect">
            <a:avLst/>
          </a:prstGeom>
          <a:solidFill>
            <a:srgbClr val="FFA000"/>
          </a:solidFill>
          <a:ln/>
        </p:spPr>
      </p:sp>
      <p:sp>
        <p:nvSpPr>
          <p:cNvPr id="45" name="Text 43"/>
          <p:cNvSpPr/>
          <p:nvPr/>
        </p:nvSpPr>
        <p:spPr>
          <a:xfrm>
            <a:off x="3794760" y="26517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A000"/>
                </a:solidFill>
              </a:rPr>
              <a:t>⟺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3566160" y="297180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/ REST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7772400" y="2880360"/>
            <a:ext cx="274320" cy="73152"/>
          </a:xfrm>
          <a:prstGeom prst="rect">
            <a:avLst/>
          </a:prstGeom>
          <a:solidFill>
            <a:srgbClr val="FFA000"/>
          </a:solidFill>
          <a:ln/>
        </p:spPr>
      </p:sp>
      <p:sp>
        <p:nvSpPr>
          <p:cNvPr id="48" name="Text 46"/>
          <p:cNvSpPr/>
          <p:nvPr/>
        </p:nvSpPr>
        <p:spPr>
          <a:xfrm>
            <a:off x="7726680" y="26517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A000"/>
                </a:solidFill>
              </a:rPr>
              <a:t>⟺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7498080" y="297180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JDBC / JPA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— Système de Rôles &amp; Sécurité JWT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3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Flux d'authentification JWT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1005840"/>
            <a:ext cx="640080" cy="640080"/>
          </a:xfrm>
          <a:prstGeom prst="ellipse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73736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user/pwd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96596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A000"/>
                </a:solidFill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154680" y="1005840"/>
            <a:ext cx="640080" cy="640080"/>
          </a:xfrm>
          <a:prstGeom prst="ellipse">
            <a:avLst/>
          </a:prstGeom>
          <a:solidFill>
            <a:srgbClr val="1976D2"/>
          </a:solidFill>
          <a:ln/>
        </p:spPr>
      </p:sp>
      <p:sp>
        <p:nvSpPr>
          <p:cNvPr id="11" name="Text 9"/>
          <p:cNvSpPr/>
          <p:nvPr/>
        </p:nvSpPr>
        <p:spPr>
          <a:xfrm>
            <a:off x="315468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651760" y="173736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/api/auth/login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4340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A000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532120" y="1005840"/>
            <a:ext cx="640080" cy="6400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553212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173736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Vérif.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BCrypt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A000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909560" y="1005840"/>
            <a:ext cx="640080" cy="640080"/>
          </a:xfrm>
          <a:prstGeom prst="ellipse">
            <a:avLst/>
          </a:prstGeom>
          <a:solidFill>
            <a:srgbClr val="FFA000"/>
          </a:solidFill>
          <a:ln/>
        </p:spPr>
      </p:sp>
      <p:sp>
        <p:nvSpPr>
          <p:cNvPr id="19" name="Text 17"/>
          <p:cNvSpPr/>
          <p:nvPr/>
        </p:nvSpPr>
        <p:spPr>
          <a:xfrm>
            <a:off x="790956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06640" y="173736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Token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24h retourné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09828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A000"/>
                </a:solidFill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10287000" y="1005840"/>
            <a:ext cx="640080" cy="640080"/>
          </a:xfrm>
          <a:prstGeom prst="ellipse">
            <a:avLst/>
          </a:prstGeom>
          <a:solidFill>
            <a:srgbClr val="6A1B9A"/>
          </a:solidFill>
          <a:ln/>
        </p:spPr>
      </p:sp>
      <p:sp>
        <p:nvSpPr>
          <p:cNvPr id="23" name="Text 21"/>
          <p:cNvSpPr/>
          <p:nvPr/>
        </p:nvSpPr>
        <p:spPr>
          <a:xfrm>
            <a:off x="1028700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84080" y="173736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Requêtes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Bearer JWT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3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d'accès par rôle</a:t>
            </a:r>
            <a:endParaRPr lang="en-US" sz="1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80360"/>
          <a:ext cx="11155680" cy="1865376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Fonctionnalité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ÉTUDIANT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ENSEIGNANT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Tableau de bord / Cours / Exercices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BacIA Chat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Planning personnel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Gestion Cours &amp; Exercices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Gestion des Utilisateurs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— Tableau de Bord Étudiant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"Bonjour Ahmed ! 👋 — Prêt à réviser ? Continuez sur votre lancée !"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2651760" cy="1554480"/>
          </a:xfrm>
          <a:prstGeom prst="roundRect">
            <a:avLst>
              <a:gd name="adj" fmla="val 7059"/>
            </a:avLst>
          </a:prstGeom>
          <a:solidFill>
            <a:srgbClr val="EEF2FF"/>
          </a:solidFill>
          <a:ln w="25400">
            <a:solidFill>
              <a:srgbClr val="1565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0972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📚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74320" y="162763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565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8/12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74320" y="2057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 Complétés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4320" y="233172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565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0" y="1051560"/>
            <a:ext cx="2651760" cy="1554480"/>
          </a:xfrm>
          <a:prstGeom prst="roundRect">
            <a:avLst>
              <a:gd name="adj" fmla="val 7059"/>
            </a:avLst>
          </a:prstGeom>
          <a:solidFill>
            <a:srgbClr val="EEF2FF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10972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200400" y="162763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200400" y="2057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Exercices Faits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00400" y="233172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E7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 45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51560"/>
            <a:ext cx="2651760" cy="1554480"/>
          </a:xfrm>
          <a:prstGeom prst="roundRect">
            <a:avLst>
              <a:gd name="adj" fmla="val 7059"/>
            </a:avLst>
          </a:prstGeom>
          <a:solidFill>
            <a:srgbClr val="EEF2FF"/>
          </a:solidFill>
          <a:ln w="25400">
            <a:solidFill>
              <a:srgbClr val="E651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10972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126480" y="162763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65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75.3%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126480" y="2057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 Moyen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126480" y="233172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65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Moyenne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052560" y="1051560"/>
            <a:ext cx="2651760" cy="1554480"/>
          </a:xfrm>
          <a:prstGeom prst="roundRect">
            <a:avLst>
              <a:gd name="adj" fmla="val 7059"/>
            </a:avLst>
          </a:prstGeom>
          <a:solidFill>
            <a:srgbClr val="EEF2FF"/>
          </a:solidFill>
          <a:ln w="25400">
            <a:solidFill>
              <a:srgbClr val="6A1B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52560" y="10972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✔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052560" y="162763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A1B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5/8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052560" y="2057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Tâches Planning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052560" y="233172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A1B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" y="2788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3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Contenu du tableau de bord :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65760" y="324612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  4 cartes statistiques dynamiques (cours, exercices, score, planning)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65760" y="379476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  Barre de progression globale calculée en temps réel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34340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🏆  Tableau des 5 derniers scores avec exercice, note et date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09360" y="324612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📅  Liste des prochaines tâches de planning à venir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09360" y="379476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 Boutons d'actions rapides : Cours, Exercices, BacIA, Planning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09360" y="434340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⏱  Cache côté frontend (30 secondes) pour éviter les requêtes répétées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— Bibliothèque de Cours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40080"/>
            <a:ext cx="5029200" cy="4480560"/>
          </a:xfrm>
          <a:prstGeom prst="roundRect">
            <a:avLst>
              <a:gd name="adj" fmla="val 3061"/>
            </a:avLst>
          </a:prstGeom>
          <a:solidFill>
            <a:srgbClr val="EEF2FF"/>
          </a:solidFill>
          <a:ln w="25400">
            <a:solidFill>
              <a:srgbClr val="1976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640080"/>
            <a:ext cx="5029200" cy="1005840"/>
          </a:xfrm>
          <a:prstGeom prst="roundRect">
            <a:avLst>
              <a:gd name="adj" fmla="val 13636"/>
            </a:avLst>
          </a:prstGeom>
          <a:solidFill>
            <a:srgbClr val="1A237E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71323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MATHÉMATIQUES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0972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0BEC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Chapitre 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7373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Fonctions Dérivées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22402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Analyse différentielle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26517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976D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⏱ 45 min    📊 TERMINALE    📄 COURS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4663440" cy="201168"/>
          </a:xfrm>
          <a:prstGeom prst="roundRect">
            <a:avLst>
              <a:gd name="adj" fmla="val 45455"/>
            </a:avLst>
          </a:prstGeom>
          <a:solidFill>
            <a:srgbClr val="E0E0E0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3154680"/>
            <a:ext cx="3108960" cy="201168"/>
          </a:xfrm>
          <a:prstGeom prst="roundRect">
            <a:avLst>
              <a:gd name="adj" fmla="val 45455"/>
            </a:avLst>
          </a:prstGeom>
          <a:solidFill>
            <a:srgbClr val="1976D2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410712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976D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Progression : 66%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60720" y="594360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3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Fonctionnalités — Cours :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760720" y="1097280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🔍  Barre de recherche en temps réel (titre, chapitre, matière)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60720" y="1664208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🎨  Chips de filtrage par matière (couleur distincte par discipline)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760720" y="2231136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📄  Carte par cours : en-tête coloré, numéro de chapitre, durée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760720" y="2798064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  Barre de progression individuelle par cours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3364992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 Icône de validation pour les cours complétés à 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760720" y="3931920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📝  Contenu complet en Markdown avec mise en forme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760720" y="4498848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🔄  Marquage de progression : 0%, 25%, 50%, 75%, 100%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— Exercices &amp; Annales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types d'exercices 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3566160" cy="2011680"/>
          </a:xfrm>
          <a:prstGeom prst="roundRect">
            <a:avLst>
              <a:gd name="adj" fmla="val 6818"/>
            </a:avLst>
          </a:prstGeom>
          <a:solidFill>
            <a:srgbClr val="EEF2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05156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❓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74320" y="1673352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65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QCM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21031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à choix unique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Correction automatique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 + mention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06240" y="1005840"/>
            <a:ext cx="3566160" cy="2011680"/>
          </a:xfrm>
          <a:prstGeom prst="roundRect">
            <a:avLst>
              <a:gd name="adj" fmla="val 6818"/>
            </a:avLst>
          </a:prstGeom>
          <a:solidFill>
            <a:srgbClr val="EEF2FF"/>
          </a:solidFill>
          <a:ln w="3810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105156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📋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206240" y="1673352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7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EXERCICE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343400" y="21031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Énoncé + correction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Affiché à la demande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38160" y="1005840"/>
            <a:ext cx="3566160" cy="2011680"/>
          </a:xfrm>
          <a:prstGeom prst="roundRect">
            <a:avLst>
              <a:gd name="adj" fmla="val 6818"/>
            </a:avLst>
          </a:prstGeom>
          <a:solidFill>
            <a:srgbClr val="EEF2FF"/>
          </a:solidFill>
          <a:ln w="38100">
            <a:solidFill>
              <a:srgbClr val="6A1B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38160" y="105156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📜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138160" y="1673352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A1B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ANNALE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75320" y="21031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Sujets officiels du Bac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Avec année et correction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" y="3154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 QCM — Après soumission :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5760" y="3611880"/>
            <a:ext cx="5669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🏆 Score affiché : 8/10 — 80.0%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114800"/>
            <a:ext cx="5669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🎖 Mention : Excellent / Bien / Assez Bien / Insuffisant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4617720"/>
            <a:ext cx="5669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Correction Q/R : Bonne réponse en vert, erreur en rouge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09360" y="3611880"/>
            <a:ext cx="5669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💡 Explication : Explication pédagogique par question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09360" y="4114800"/>
            <a:ext cx="5669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⏱ Chronomètre : Suivi du temps avec alerte si dépassement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53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— BacIA : Assistant Pédagogique Intelligent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4572000"/>
          </a:xfrm>
          <a:prstGeom prst="roundRect">
            <a:avLst>
              <a:gd name="adj" fmla="val 4000"/>
            </a:avLst>
          </a:prstGeom>
          <a:solidFill>
            <a:srgbClr val="2D1B4E"/>
          </a:solidFill>
          <a:ln w="25400">
            <a:solidFill>
              <a:srgbClr val="7B1FA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640080"/>
            <a:ext cx="5303520" cy="640080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694944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🤖  BacIA — Assistant Pédagogique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86000" y="1417320"/>
            <a:ext cx="3017520" cy="594360"/>
          </a:xfrm>
          <a:prstGeom prst="roundRect">
            <a:avLst>
              <a:gd name="adj" fmla="val 23077"/>
            </a:avLst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2286000" y="141732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Explique les dérivées svp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148840"/>
            <a:ext cx="4937760" cy="1645920"/>
          </a:xfrm>
          <a:prstGeom prst="roundRect">
            <a:avLst>
              <a:gd name="adj" fmla="val 8333"/>
            </a:avLst>
          </a:prstGeom>
          <a:solidFill>
            <a:srgbClr val="3E1F6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212848"/>
            <a:ext cx="47548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Bien sûr ! La dérivée mesure le taux de variation instantané...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f'(x) = lim[h→0] (f(x+h) - f(x)) / h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Exemple : si f(x) = x², alors f'(x) = 2x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3931920"/>
            <a:ext cx="822960" cy="320040"/>
          </a:xfrm>
          <a:prstGeom prst="roundRect">
            <a:avLst>
              <a:gd name="adj" fmla="val 42857"/>
            </a:avLst>
          </a:prstGeom>
          <a:solidFill>
            <a:srgbClr val="3E1F6E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393192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E93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● ● ●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4434840"/>
            <a:ext cx="4389120" cy="548640"/>
          </a:xfrm>
          <a:prstGeom prst="roundRect">
            <a:avLst>
              <a:gd name="adj" fmla="val 16667"/>
            </a:avLst>
          </a:prstGeom>
          <a:solidFill>
            <a:srgbClr val="3E1F6E"/>
          </a:solidFill>
          <a:ln w="25400">
            <a:solidFill>
              <a:srgbClr val="7B1FA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446227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575C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Posez votre question...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44348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A000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4434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</a:rPr>
              <a:t>➤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0" y="594360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E93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Caractéristiques de BacIA :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43600" y="109728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E93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🧠  Modèle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178040" y="109728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1BEE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Anthropic Claude Sonnet (claude-sonnet-4-6)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43600" y="181051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E93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📚  Contexte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78040" y="1810512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1BEE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Sélecteur de matière pour contextualiser les réponses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43600" y="2523744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E93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Historique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78040" y="2523744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1BEE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Conversations sauvegardées en base de données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0" y="3236976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E93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✨  Formatage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78040" y="3236976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1BEE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Réponses en Markdown (gras, listes, formules)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43600" y="3950208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E93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 Suggestions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78040" y="3950208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1BEE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rapides pré-définies pour démarrer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943600" y="466344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E93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🗑  Effacer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78040" y="466344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1BEE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Réinitialisation de la conversation en un clic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— Planning de Révision Personnel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486400" cy="1280160"/>
          </a:xfrm>
          <a:prstGeom prst="roundRect">
            <a:avLst>
              <a:gd name="adj" fmla="val 8571"/>
            </a:avLst>
          </a:prstGeom>
          <a:solidFill>
            <a:srgbClr val="EEF2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640080"/>
            <a:ext cx="182880" cy="128016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75895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☐  Révision Maths — Chapitres 3-4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17043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📚 Mathématiques  •  📅 23 mars  •  ⏰ 14:00-16:00  •  🔔 Rappel  •  [En cours]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2057400"/>
            <a:ext cx="5486400" cy="1097280"/>
          </a:xfrm>
          <a:prstGeom prst="roundRect">
            <a:avLst>
              <a:gd name="adj" fmla="val 10000"/>
            </a:avLst>
          </a:prstGeom>
          <a:solidFill>
            <a:srgbClr val="F1F8E9"/>
          </a:solidFill>
          <a:ln w="381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2057400"/>
            <a:ext cx="182880" cy="10972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17627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☑  Exercices Physique — Lois de Newton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4360" y="254203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📚 Physique  •  📅 20 mars  •  ⏰ 10:00-11:30  •  [Terminé]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126480" y="59436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3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Fonctionnalités du Planning :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051560"/>
            <a:ext cx="5760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✏️  Création de tâches : titre, description, matière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1600200"/>
            <a:ext cx="5760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📅  Plage date + heure (début et fin)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26480" y="2148840"/>
            <a:ext cx="5760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🎨  6 couleurs personnalisables par tâche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26480" y="2697480"/>
            <a:ext cx="5760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🔔  Option de rappel activable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26480" y="3246120"/>
            <a:ext cx="5760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☑  Checkbox pour marquer une tâche terminée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0" y="3794760"/>
            <a:ext cx="5760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🔍  Filtres : Toutes / À faire / Terminées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26480" y="4343400"/>
            <a:ext cx="5760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🗑  Suppression individuelle par tâche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— Espace Enseignant &amp; Administrateur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594360"/>
            <a:ext cx="5669280" cy="4663440"/>
          </a:xfrm>
          <a:prstGeom prst="roundRect">
            <a:avLst>
              <a:gd name="adj" fmla="val 2941"/>
            </a:avLst>
          </a:prstGeom>
          <a:solidFill>
            <a:srgbClr val="EEF2FF"/>
          </a:solidFill>
          <a:ln w="38100">
            <a:solidFill>
              <a:srgbClr val="EF6C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594360"/>
            <a:ext cx="5669280" cy="594360"/>
          </a:xfrm>
          <a:prstGeom prst="roundRect">
            <a:avLst>
              <a:gd name="adj" fmla="val 23077"/>
            </a:avLst>
          </a:prstGeom>
          <a:solidFill>
            <a:srgbClr val="EF6C0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6400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🏫  Espace Enseignant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6C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📚 Gestion des Cours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673352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Créer / Modifier / Supprimer des cours.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Matière, chapitre, contenu Markdown.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240280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6C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✏️ Gestion des Exercices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587752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Créer QCM, exercices et annales.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Difficulté, durée, points, correction.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154680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6C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Ajout de Questions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502152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avec options de réponse.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Désigner la bonne réponse.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069080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6C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🔐 Accès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@PreAuthorize("ENSEIGNANT or ADMIN")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594360"/>
            <a:ext cx="5669280" cy="4663440"/>
          </a:xfrm>
          <a:prstGeom prst="roundRect">
            <a:avLst>
              <a:gd name="adj" fmla="val 2941"/>
            </a:avLst>
          </a:prstGeom>
          <a:solidFill>
            <a:srgbClr val="FFF8F8"/>
          </a:solidFill>
          <a:ln w="38100">
            <a:solidFill>
              <a:srgbClr val="C6282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594360"/>
            <a:ext cx="5669280" cy="594360"/>
          </a:xfrm>
          <a:prstGeom prst="roundRect">
            <a:avLst>
              <a:gd name="adj" fmla="val 23077"/>
            </a:avLst>
          </a:prstGeom>
          <a:solidFill>
            <a:srgbClr val="C62828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6400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👑  Espace Administrateur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0" y="1325880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62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👥 Liste des utilisateurs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0" y="1673352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Tableau complet : nom, identifiant, email, rôle.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0" y="2075688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62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➕ Créer un utilisateur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2423160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Tous les champs + rôle (ETUDIANT / ENSEIGNANT / ADMIN).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0" y="2825496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62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✏️ Modifier un utilisateur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0" y="3172968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Modification sans toucher au mot de passe.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0" y="3575304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62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🔴 Activer / Désactiver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0" y="3922776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Toggle slide pour bloquer l'accès sans supprimer.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0" y="4325112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62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🗑 Supprimer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0" y="4672584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Suppression définitive d'un compte.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— Modèle de Données (Entités JPA)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3657600" cy="1691640"/>
          </a:xfrm>
          <a:prstGeom prst="roundRect">
            <a:avLst>
              <a:gd name="adj" fmla="val 6486"/>
            </a:avLst>
          </a:prstGeom>
          <a:solidFill>
            <a:srgbClr val="EEF2FF"/>
          </a:solidFill>
          <a:ln w="25400">
            <a:solidFill>
              <a:srgbClr val="1A237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640080"/>
            <a:ext cx="3657600" cy="411480"/>
          </a:xfrm>
          <a:prstGeom prst="roundRect">
            <a:avLst>
              <a:gd name="adj" fmla="val 26667"/>
            </a:avLst>
          </a:prstGeom>
          <a:solidFill>
            <a:srgbClr val="1A237E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5836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" y="109728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id, username, email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84048" y="1335024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password (BCrypt)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84048" y="157276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nom, prenom, serie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84048" y="181051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role (ENUM)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84048" y="2048256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actif, date_inscription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206240" y="640080"/>
            <a:ext cx="3657600" cy="1691640"/>
          </a:xfrm>
          <a:prstGeom prst="roundRect">
            <a:avLst>
              <a:gd name="adj" fmla="val 6486"/>
            </a:avLst>
          </a:prstGeom>
          <a:solidFill>
            <a:srgbClr val="EEF2FF"/>
          </a:solidFill>
          <a:ln w="25400">
            <a:solidFill>
              <a:srgbClr val="1565C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640080"/>
            <a:ext cx="3657600" cy="411480"/>
          </a:xfrm>
          <a:prstGeom prst="roundRect">
            <a:avLst>
              <a:gd name="adj" fmla="val 26667"/>
            </a:avLst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65836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cours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15968" y="109728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id, titre, chapitre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315968" y="1335024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matiere_id (FK)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315968" y="157276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contenu (Markdown)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315968" y="181051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type, niveau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315968" y="2048256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duree_lecture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8138160" y="640080"/>
            <a:ext cx="3657600" cy="1691640"/>
          </a:xfrm>
          <a:prstGeom prst="roundRect">
            <a:avLst>
              <a:gd name="adj" fmla="val 6486"/>
            </a:avLst>
          </a:prstGeom>
          <a:solidFill>
            <a:srgbClr val="EEF2FF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38160" y="640080"/>
            <a:ext cx="3657600" cy="411480"/>
          </a:xfrm>
          <a:prstGeom prst="roundRect">
            <a:avLst>
              <a:gd name="adj" fmla="val 26667"/>
            </a:avLst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8138160" y="65836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exercices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47888" y="109728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id, titre, enonce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247888" y="1335024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matiere_id (FK)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247888" y="157276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type (QCM/EX/ANN)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47888" y="181051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difficulte, annee_bac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247888" y="2048256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points_total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74320" y="2423160"/>
            <a:ext cx="3657600" cy="1691640"/>
          </a:xfrm>
          <a:prstGeom prst="roundRect">
            <a:avLst>
              <a:gd name="adj" fmla="val 6486"/>
            </a:avLst>
          </a:prstGeom>
          <a:solidFill>
            <a:srgbClr val="EEF2FF"/>
          </a:solidFill>
          <a:ln w="25400">
            <a:solidFill>
              <a:srgbClr val="00695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" y="2423160"/>
            <a:ext cx="3657600" cy="411480"/>
          </a:xfrm>
          <a:prstGeom prst="roundRect">
            <a:avLst>
              <a:gd name="adj" fmla="val 26667"/>
            </a:avLst>
          </a:prstGeom>
          <a:solidFill>
            <a:srgbClr val="00695C"/>
          </a:solidFill>
          <a:ln/>
        </p:spPr>
      </p:sp>
      <p:sp>
        <p:nvSpPr>
          <p:cNvPr id="31" name="Text 29"/>
          <p:cNvSpPr/>
          <p:nvPr/>
        </p:nvSpPr>
        <p:spPr>
          <a:xfrm>
            <a:off x="274320" y="24414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84048" y="28803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id, exercice_id (FK)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384048" y="3118104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enonce, explication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84048" y="335584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ordre, points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384048" y="359359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→ options_reponse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206240" y="2423160"/>
            <a:ext cx="3657600" cy="1691640"/>
          </a:xfrm>
          <a:prstGeom prst="roundRect">
            <a:avLst>
              <a:gd name="adj" fmla="val 6486"/>
            </a:avLst>
          </a:prstGeom>
          <a:solidFill>
            <a:srgbClr val="EEF2FF"/>
          </a:solidFill>
          <a:ln w="25400">
            <a:solidFill>
              <a:srgbClr val="E65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06240" y="2423160"/>
            <a:ext cx="3657600" cy="411480"/>
          </a:xfrm>
          <a:prstGeom prst="roundRect">
            <a:avLst>
              <a:gd name="adj" fmla="val 26667"/>
            </a:avLst>
          </a:prstGeom>
          <a:solidFill>
            <a:srgbClr val="E65100"/>
          </a:solidFill>
          <a:ln/>
        </p:spPr>
      </p:sp>
      <p:sp>
        <p:nvSpPr>
          <p:cNvPr id="38" name="Text 36"/>
          <p:cNvSpPr/>
          <p:nvPr/>
        </p:nvSpPr>
        <p:spPr>
          <a:xfrm>
            <a:off x="4206240" y="24414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planning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315968" y="28803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id, user_id (FK)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315968" y="3118104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titre, description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315968" y="335584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matiere_id, couleur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315968" y="359359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date/heure début-fin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315968" y="3831336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complete, rappel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138160" y="2423160"/>
            <a:ext cx="3657600" cy="1691640"/>
          </a:xfrm>
          <a:prstGeom prst="roundRect">
            <a:avLst>
              <a:gd name="adj" fmla="val 6486"/>
            </a:avLst>
          </a:prstGeom>
          <a:solidFill>
            <a:srgbClr val="EEF2FF"/>
          </a:solidFill>
          <a:ln w="25400">
            <a:solidFill>
              <a:srgbClr val="6A1B9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38160" y="2423160"/>
            <a:ext cx="3657600" cy="411480"/>
          </a:xfrm>
          <a:prstGeom prst="roundRect">
            <a:avLst>
              <a:gd name="adj" fmla="val 26667"/>
            </a:avLst>
          </a:prstGeom>
          <a:solidFill>
            <a:srgbClr val="6A1B9A"/>
          </a:solidFill>
          <a:ln/>
        </p:spPr>
      </p:sp>
      <p:sp>
        <p:nvSpPr>
          <p:cNvPr id="46" name="Text 44"/>
          <p:cNvSpPr/>
          <p:nvPr/>
        </p:nvSpPr>
        <p:spPr>
          <a:xfrm>
            <a:off x="8138160" y="24414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user_scores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47888" y="28803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id, user_id (FK)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247888" y="3118104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exercice_id (FK)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247888" y="335584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score, score_max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8247888" y="359359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pourcentage, mention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8247888" y="3831336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date_passage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74320" y="4206240"/>
            <a:ext cx="3657600" cy="1691640"/>
          </a:xfrm>
          <a:prstGeom prst="roundRect">
            <a:avLst>
              <a:gd name="adj" fmla="val 6486"/>
            </a:avLst>
          </a:prstGeom>
          <a:solidFill>
            <a:srgbClr val="EEF2FF"/>
          </a:solidFill>
          <a:ln w="25400">
            <a:solidFill>
              <a:srgbClr val="00796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74320" y="4206240"/>
            <a:ext cx="3657600" cy="411480"/>
          </a:xfrm>
          <a:prstGeom prst="roundRect">
            <a:avLst>
              <a:gd name="adj" fmla="val 26667"/>
            </a:avLst>
          </a:prstGeom>
          <a:solidFill>
            <a:srgbClr val="00796B"/>
          </a:solidFill>
          <a:ln/>
        </p:spPr>
      </p:sp>
      <p:sp>
        <p:nvSpPr>
          <p:cNvPr id="54" name="Text 52"/>
          <p:cNvSpPr/>
          <p:nvPr/>
        </p:nvSpPr>
        <p:spPr>
          <a:xfrm>
            <a:off x="274320" y="422452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user_progress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384048" y="466344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id, user_id (FK)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84048" y="4901184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cours_id (FK)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384048" y="513892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progression (0-100%)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384048" y="537667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complete (bool)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206240" y="4206240"/>
            <a:ext cx="3657600" cy="1691640"/>
          </a:xfrm>
          <a:prstGeom prst="roundRect">
            <a:avLst>
              <a:gd name="adj" fmla="val 6486"/>
            </a:avLst>
          </a:prstGeom>
          <a:solidFill>
            <a:srgbClr val="EEF2FF"/>
          </a:solidFill>
          <a:ln w="25400">
            <a:solidFill>
              <a:srgbClr val="4527A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206240" y="4206240"/>
            <a:ext cx="3657600" cy="411480"/>
          </a:xfrm>
          <a:prstGeom prst="roundRect">
            <a:avLst>
              <a:gd name="adj" fmla="val 26667"/>
            </a:avLst>
          </a:prstGeom>
          <a:solidFill>
            <a:srgbClr val="4527A0"/>
          </a:solidFill>
          <a:ln/>
        </p:spPr>
      </p:sp>
      <p:sp>
        <p:nvSpPr>
          <p:cNvPr id="61" name="Text 59"/>
          <p:cNvSpPr/>
          <p:nvPr/>
        </p:nvSpPr>
        <p:spPr>
          <a:xfrm>
            <a:off x="4206240" y="422452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chat_messages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4315968" y="466344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id, user_id (FK)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315968" y="4901184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role (user/assistant)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4315968" y="513892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content (text)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4315968" y="537667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timestamp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8138160" y="4206240"/>
            <a:ext cx="3657600" cy="1691640"/>
          </a:xfrm>
          <a:prstGeom prst="roundRect">
            <a:avLst>
              <a:gd name="adj" fmla="val 6486"/>
            </a:avLst>
          </a:prstGeom>
          <a:solidFill>
            <a:srgbClr val="EEF2FF"/>
          </a:solidFill>
          <a:ln w="25400">
            <a:solidFill>
              <a:srgbClr val="61616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138160" y="4206240"/>
            <a:ext cx="3657600" cy="411480"/>
          </a:xfrm>
          <a:prstGeom prst="roundRect">
            <a:avLst>
              <a:gd name="adj" fmla="val 26667"/>
            </a:avLst>
          </a:prstGeom>
          <a:solidFill>
            <a:srgbClr val="616161"/>
          </a:solidFill>
          <a:ln/>
        </p:spPr>
      </p:sp>
      <p:sp>
        <p:nvSpPr>
          <p:cNvPr id="68" name="Text 66"/>
          <p:cNvSpPr/>
          <p:nvPr/>
        </p:nvSpPr>
        <p:spPr>
          <a:xfrm>
            <a:off x="8138160" y="422452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matieres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247888" y="466344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id, nom, code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8247888" y="4901184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couleur (hex)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8247888" y="513892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icone (Material)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— API REST Backend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594360"/>
          <a:ext cx="11338560" cy="3730752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Méthode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Endpoint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Description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Rôle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/api/auth/login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Connexion — retourne JWT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/api/auth/register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Inscription étudiant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/api/dashboard/stats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Statistiques tableau de bord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GET/POST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/api/cours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Liste / Créer cours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 / Enseignant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/api/exercices/{id}/submit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Soumettre réponses QCM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/api/exercices/my-scores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Historique scores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GET/POST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/api/planning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Planning utilisateur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/api/ai/chat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Chat BacIA (Anthropic API)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GET/POST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/api/admin/users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Gestion utilisateurs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GET/POST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/api/enseignant/cours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Gestion cours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ENSEIGNANT+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GET/POST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/api/enseignant/exercices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Gestion exercices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ENSEIGNANT+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Sécurité des endpoints :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74320" y="489204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74320" y="48920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74320" y="51206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Aucun token requis (login, register)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200400" y="489204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E3F2FD"/>
          </a:solidFill>
          <a:ln w="19050">
            <a:solidFill>
              <a:srgbClr val="1565C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200400" y="48920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565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200400" y="51206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valide requis dans l'en-tête Authorization: Bearer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6126480" y="489204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3E0"/>
          </a:solidFill>
          <a:ln w="19050">
            <a:solidFill>
              <a:srgbClr val="EF6C00"/>
            </a:solidFill>
            <a:prstDash val="solid"/>
          </a:ln>
        </p:spPr>
      </p:sp>
      <p:sp>
        <p:nvSpPr>
          <p:cNvPr id="5" name="Text 11"/>
          <p:cNvSpPr/>
          <p:nvPr/>
        </p:nvSpPr>
        <p:spPr>
          <a:xfrm>
            <a:off x="6126480" y="48920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F6C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ENSEIGNANT+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126480" y="51206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@PreAuthorize("ENSEIGNANT or ADMIN")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9052560" y="489204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EBEE"/>
          </a:solidFill>
          <a:ln w="19050">
            <a:solidFill>
              <a:srgbClr val="C6282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052560" y="48920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62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9052560" y="51206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@PreAuthorize("ADMIN") uniquement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— Optimisations &amp; Problèmes Résolus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486400" cy="228600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 w="31750">
            <a:solidFill>
              <a:srgbClr val="1565C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731520"/>
            <a:ext cx="502920" cy="502920"/>
          </a:xfrm>
          <a:prstGeom prst="ellipse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731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74980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65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Chargement lent du dashboard (N+1)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1261872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62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 Problème 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554480" y="1261872"/>
            <a:ext cx="4069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findByUserId().size() chargeait toutes les tâches en mémoire pour compter.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1901952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7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Solution 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554480" y="1901952"/>
            <a:ext cx="4069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Ajout de countByUserId(Long id) dans PlanningRepository → requête COUNT directe.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3063240"/>
            <a:ext cx="5486400" cy="228600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 w="31750">
            <a:solidFill>
              <a:srgbClr val="2E7D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315468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3154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317296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LazyInitializationException — Exercices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3685032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62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 Problème :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554480" y="3685032"/>
            <a:ext cx="4069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Exercice.questions en FetchType.LAZY sérialisé hors de la session Hibernate.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11480" y="4325112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7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Solution :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554480" y="4325112"/>
            <a:ext cx="4069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@Transactional(readOnly=true) + exercices.forEach(e -&gt; e.setQuestions(null)) sur les listes.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640080"/>
            <a:ext cx="5486400" cy="228600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 w="31750">
            <a:solidFill>
              <a:srgbClr val="6A1B9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09360" y="731520"/>
            <a:ext cx="502920" cy="502920"/>
          </a:xfrm>
          <a:prstGeom prst="ellipse">
            <a:avLst/>
          </a:prstGeom>
          <a:solidFill>
            <a:srgbClr val="6A1B9A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0" y="731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49440" y="74980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A1B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Cache Frontend — Dashboard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355080" y="1261872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62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 Problème 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498080" y="1261872"/>
            <a:ext cx="4069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Rechargement des stats à chaque visite du tableau de bord.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355080" y="1901952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7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Solution :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498080" y="1901952"/>
            <a:ext cx="4069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Cache 30 secondes côté Angular service. Données servies instantanément si récentes.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3063240"/>
            <a:ext cx="5486400" cy="228600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 w="31750">
            <a:solidFill>
              <a:srgbClr val="FFA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09360" y="3154680"/>
            <a:ext cx="502920" cy="502920"/>
          </a:xfrm>
          <a:prstGeom prst="ellipse">
            <a:avLst/>
          </a:prstGeom>
          <a:solidFill>
            <a:srgbClr val="FFA00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9360" y="3154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49440" y="317296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A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Navigation 2 clics — Sidebar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355080" y="3685032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628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 Problème :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498080" y="3685032"/>
            <a:ext cx="4069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&lt;mat-list-item (click)&gt; nécessitait focus puis clic (2 interactions).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355080" y="4325112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7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Solution :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498080" y="4325112"/>
            <a:ext cx="4069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&lt;a mat-list-item [routerLink]&gt; → navigation native en 1 seul clic.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A000"/>
          </a:solidFill>
          <a:ln/>
        </p:spPr>
      </p:sp>
      <p:sp>
        <p:nvSpPr>
          <p:cNvPr id="4" name="Text 2"/>
          <p:cNvSpPr/>
          <p:nvPr/>
        </p:nvSpPr>
        <p:spPr>
          <a:xfrm>
            <a:off x="5120640" y="36576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🎓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BacPrep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1488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A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plateforme complète, moderne et intelligente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dirty="0">
                <a:solidFill>
                  <a:srgbClr val="FFA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pour réussir le Baccalauréat mauritanien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200400" y="3063240"/>
            <a:ext cx="54864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32461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0BEC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Architecture moderne : Angular 21 + Spring Boot 3.2.5 + MySQL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28800" y="372160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0BEC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Intelligence Artificielle intégrée : Anthropic Claude Sonnet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828800" y="419709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0BEC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Système de rôles complet : Étudiant / Enseignant / Admin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828800" y="4672584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0BEC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Interface responsive avec Angular Material Design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5212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46E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 Conseil  •  Tous droits réservés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1725</Words>
  <Application>Microsoft Office PowerPoint</Application>
  <PresentationFormat>Grand écran</PresentationFormat>
  <Paragraphs>399</Paragraphs>
  <Slides>15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19" baseType="lpstr">
      <vt:lpstr>Arial</vt:lpstr>
      <vt:lpstr>Courier New</vt:lpstr>
      <vt:lpstr>Segoe UI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Alfa Conseil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BacPrep — Plateforme de Révision Baccalauréat</dc:title>
  <dc:subject>Présentation BacPrep</dc:subject>
  <dc:creator>Alfa Conseil</dc:creator>
  <cp:lastModifiedBy>HP</cp:lastModifiedBy>
  <cp:revision>4</cp:revision>
  <dcterms:created xsi:type="dcterms:W3CDTF">2026-03-22T19:30:20Z</dcterms:created>
  <dcterms:modified xsi:type="dcterms:W3CDTF">2026-03-23T06:57:21Z</dcterms:modified>
</cp:coreProperties>
</file>